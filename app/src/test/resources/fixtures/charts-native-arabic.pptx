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48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مبيعات الأشهر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المبيعات</c:v>
                </c:pt>
              </c:strCache>
            </c:strRef>
          </c:tx>
          <c:spPr>
            <a:solidFill>
              <a:srgbClr val="1464C8"/>
            </a:solidFill>
            <a:ln>
              <a:solidFill>
                <a:srgbClr val="1464C8"/>
              </a:solidFill>
            </a:ln>
          </c:spPr>
          <c:cat>
            <c:strRef>
              <c:f>Sheet1!$A$2:$A$4</c:f>
              <c:strCache>
                <c:ptCount val="3"/>
                <c:pt idx="0">
                  <c:v>يناير</c:v>
                </c:pt>
                <c:pt idx="1">
                  <c:v>فبراير</c:v>
                </c:pt>
                <c:pt idx="2">
                  <c:v>مارس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-6</c:v>
                </c:pt>
                <c:pt idx="2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التكلفة</c:v>
                </c:pt>
              </c:strCache>
            </c:strRef>
          </c:tx>
          <c:spPr>
            <a:solidFill>
              <a:srgbClr val="DA492A"/>
            </a:solidFill>
            <a:ln>
              <a:solidFill>
                <a:srgbClr val="DA492A"/>
              </a:solidFill>
            </a:ln>
          </c:spPr>
          <c:cat>
            <c:strRef>
              <c:f>Sheet1!$A$2:$A$4</c:f>
              <c:strCache>
                <c:ptCount val="3"/>
                <c:pt idx="0">
                  <c:v>يناير</c:v>
                </c:pt>
                <c:pt idx="1">
                  <c:v>فبراير</c:v>
                </c:pt>
                <c:pt idx="2">
                  <c:v>مارس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</c:v>
                </c:pt>
                <c:pt idx="1">
                  <c:v>5</c:v>
                </c:pt>
                <c:pt idx="2">
                  <c:v>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-1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5.0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مقارنة المناطق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أ</c:v>
                </c:pt>
              </c:strCache>
            </c:strRef>
          </c:tx>
          <c:spPr>
            <a:solidFill>
              <a:srgbClr val="1464C8"/>
            </a:solidFill>
            <a:ln>
              <a:solidFill>
                <a:srgbClr val="1464C8"/>
              </a:solidFill>
            </a:ln>
          </c:spPr>
          <c:cat>
            <c:strRef>
              <c:f>Sheet1!$A$2:$A$4</c:f>
              <c:strCache>
                <c:ptCount val="3"/>
                <c:pt idx="0">
                  <c:v>شرق</c:v>
                </c:pt>
                <c:pt idx="1">
                  <c:v>غرب</c:v>
                </c:pt>
                <c:pt idx="2">
                  <c:v>وسط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ب</c:v>
                </c:pt>
              </c:strCache>
            </c:strRef>
          </c:tx>
          <c:spPr>
            <a:solidFill>
              <a:srgbClr val="DA492A"/>
            </a:solidFill>
            <a:ln>
              <a:solidFill>
                <a:srgbClr val="DA492A"/>
              </a:solidFill>
            </a:ln>
          </c:spPr>
          <c:cat>
            <c:strRef>
              <c:f>Sheet1!$A$2:$A$4</c:f>
              <c:strCache>
                <c:ptCount val="3"/>
                <c:pt idx="0">
                  <c:v>شرق</c:v>
                </c:pt>
                <c:pt idx="1">
                  <c:v>غرب</c:v>
                </c:pt>
                <c:pt idx="2">
                  <c:v>وسط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-8</c:v>
                </c:pt>
                <c:pt idx="2">
                  <c:v>9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النسب المحفوظة</a:t>
            </a:r>
          </a:p>
        </c:rich>
      </c:tx>
      <c:layout/>
      <c:overlay val="0"/>
    </c:title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أ</c:v>
                </c:pt>
              </c:strCache>
            </c:strRef>
          </c:tx>
          <c:spPr>
            <a:solidFill>
              <a:srgbClr val="1464C8"/>
            </a:solidFill>
            <a:ln>
              <a:solidFill>
                <a:srgbClr val="1464C8"/>
              </a:solidFill>
            </a:ln>
          </c:spPr>
          <c:cat>
            <c:strRef>
              <c:f>Sheet1!$A$2:$A$4</c:f>
              <c:strCache>
                <c:ptCount val="3"/>
                <c:pt idx="0">
                  <c:v>شرق</c:v>
                </c:pt>
                <c:pt idx="1">
                  <c:v>غرب</c:v>
                </c:pt>
                <c:pt idx="2">
                  <c:v>وسط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ب</c:v>
                </c:pt>
              </c:strCache>
            </c:strRef>
          </c:tx>
          <c:spPr>
            <a:solidFill>
              <a:srgbClr val="DA492A"/>
            </a:solidFill>
            <a:ln>
              <a:solidFill>
                <a:srgbClr val="DA492A"/>
              </a:solidFill>
            </a:ln>
          </c:spPr>
          <c:cat>
            <c:strRef>
              <c:f>Sheet1!$A$2:$A$4</c:f>
              <c:strCache>
                <c:ptCount val="3"/>
                <c:pt idx="0">
                  <c:v>شرق</c:v>
                </c:pt>
                <c:pt idx="1">
                  <c:v>غرب</c:v>
                </c:pt>
                <c:pt idx="2">
                  <c:v>وسط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</c:v>
                </c:pt>
                <c:pt idx="1">
                  <c:v>15</c:v>
                </c:pt>
                <c:pt idx="2">
                  <c:v>20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تغيّر القيم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أ</c:v>
                </c:pt>
              </c:strCache>
            </c:strRef>
          </c:tx>
          <c:spPr>
            <a:solidFill>
              <a:srgbClr val="1464C8"/>
            </a:solidFill>
            <a:ln>
              <a:solidFill>
                <a:srgbClr val="1464C8"/>
              </a:solidFill>
            </a:ln>
          </c:spPr>
          <c:cat>
            <c:strRef>
              <c:f>Sheet1!$A$2:$A$5</c:f>
              <c:strCache>
                <c:ptCount val="4"/>
                <c:pt idx="0">
                  <c:v>يناير</c:v>
                </c:pt>
                <c:pt idx="1">
                  <c:v>فبراير</c:v>
                </c:pt>
                <c:pt idx="2">
                  <c:v>مارس</c:v>
                </c:pt>
                <c:pt idx="3">
                  <c:v>أبريل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2">
                  <c:v>12</c:v>
                </c:pt>
                <c:pt idx="3">
                  <c:v>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ب</c:v>
                </c:pt>
              </c:strCache>
            </c:strRef>
          </c:tx>
          <c:spPr>
            <a:solidFill>
              <a:srgbClr val="DA492A"/>
            </a:solidFill>
            <a:ln>
              <a:solidFill>
                <a:srgbClr val="DA492A"/>
              </a:solidFill>
            </a:ln>
          </c:spPr>
          <c:cat>
            <c:strRef>
              <c:f>Sheet1!$A$2:$A$5</c:f>
              <c:strCache>
                <c:ptCount val="4"/>
                <c:pt idx="0">
                  <c:v>يناير</c:v>
                </c:pt>
                <c:pt idx="1">
                  <c:v>فبراير</c:v>
                </c:pt>
                <c:pt idx="2">
                  <c:v>مارس</c:v>
                </c:pt>
                <c:pt idx="3">
                  <c:v>أبريل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8</c:v>
                </c:pt>
                <c:pt idx="3">
                  <c:v>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مساحة البيانات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التجربة</c:v>
                </c:pt>
              </c:strCache>
            </c:strRef>
          </c:tx>
          <c:spPr>
            <a:solidFill>
              <a:srgbClr val="1464C8"/>
            </a:solidFill>
            <a:ln>
              <a:solidFill>
                <a:srgbClr val="1464C8"/>
              </a:solidFill>
            </a:ln>
          </c:spPr>
          <c:cat>
            <c:strRef>
              <c:f>Sheet1!$A$2:$A$4</c:f>
              <c:strCache>
                <c:ptCount val="3"/>
                <c:pt idx="0">
                  <c:v>واحد</c:v>
                </c:pt>
                <c:pt idx="1">
                  <c:v>اثنان</c:v>
                </c:pt>
                <c:pt idx="2">
                  <c:v>ثلاثة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9</c:v>
                </c:pt>
                <c:pt idx="2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b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توزيع الأقسام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الحصة</c:v>
                </c:pt>
              </c:strCache>
            </c:strRef>
          </c:tx>
          <c:spPr>
            <a:solidFill>
              <a:srgbClr val="1464C8"/>
            </a:solidFill>
            <a:ln>
              <a:solidFill>
                <a:srgbClr val="1464C8"/>
              </a:solidFill>
            </a:ln>
          </c:spPr>
          <c:dPt>
            <c:idx val="0"/>
            <c:spPr>
              <a:solidFill>
                <a:srgbClr val="1464C8"/>
              </a:solidFill>
            </c:spPr>
          </c:dPt>
          <c:dPt>
            <c:idx val="1"/>
            <c:spPr>
              <a:solidFill>
                <a:srgbClr val="DA492A"/>
              </a:solidFill>
            </c:spPr>
          </c:dPt>
          <c:dPt>
            <c:idx val="2"/>
            <c:spPr>
              <a:solidFill>
                <a:srgbClr val="469C35"/>
              </a:solidFill>
            </c:spPr>
          </c:dPt>
          <c:cat>
            <c:strRef>
              <c:f>Sheet1!$A$2:$A$4</c:f>
              <c:strCache>
                <c:ptCount val="3"/>
                <c:pt idx="0">
                  <c:v>قسم أ</c:v>
                </c:pt>
                <c:pt idx="1">
                  <c:v>قسم ب</c:v>
                </c:pt>
                <c:pt idx="2">
                  <c:v>قسم ج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حلقة القيم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الدونات</c:v>
                </c:pt>
              </c:strCache>
            </c:strRef>
          </c:tx>
          <c:spPr>
            <a:solidFill>
              <a:srgbClr val="1464C8"/>
            </a:solidFill>
            <a:ln>
              <a:solidFill>
                <a:srgbClr val="1464C8"/>
              </a:solidFill>
            </a:ln>
          </c:spPr>
          <c:cat>
            <c:strRef>
              <c:f>Sheet1!$A$2:$A$4</c:f>
              <c:strCache>
                <c:ptCount val="3"/>
                <c:pt idx="0">
                  <c:v>أ</c:v>
                </c:pt>
                <c:pt idx="1">
                  <c:v>ب</c:v>
                </c:pt>
                <c:pt idx="2">
                  <c:v>ج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قياسات غير متساوية</a:t>
            </a:r>
          </a:p>
        </c:rich>
      </c:tx>
      <c:layout/>
      <c:overlay val="0"/>
    </c:title>
    <c:plotArea>
      <c:scatterChart>
        <c:scatte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القياسات</c:v>
                </c:pt>
              </c:strCache>
            </c:strRef>
          </c:tx>
          <c:spPr>
            <a:solidFill>
              <a:srgbClr val="1464C8"/>
            </a:solidFill>
            <a:ln w="47625">
              <a:noFill/>
            </a:ln>
          </c:spPr>
          <c:xVal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10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3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.0"/>
          <c:min val="0.0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t>نوع غير مدعوم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القيم</c:v>
                </c:pt>
              </c:strCache>
            </c:strRef>
          </c:tx>
          <c:spPr>
            <a:solidFill>
              <a:srgbClr val="1464C8"/>
            </a:solidFill>
            <a:ln>
              <a:solidFill>
                <a:srgbClr val="1464C8"/>
              </a:solidFill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أ</c:v>
                </c:pt>
                <c:pt idx="1">
                  <c:v>ب</c:v>
                </c:pt>
                <c:pt idx="2">
                  <c:v>ج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274320"/>
          <a:ext cx="82296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274320"/>
          <a:ext cx="82296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274320"/>
          <a:ext cx="82296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274320"/>
          <a:ext cx="82296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274320"/>
          <a:ext cx="82296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274320"/>
          <a:ext cx="82296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274320"/>
          <a:ext cx="82296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274320"/>
          <a:ext cx="82296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274320"/>
          <a:ext cx="82296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