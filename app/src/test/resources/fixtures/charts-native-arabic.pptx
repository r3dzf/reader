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5486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مبيعات الأشهر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المبيعات</c:v>
                </c:pt>
              </c:strCache>
            </c:strRef>
          </c:tx>
          <c:spPr>
            <a:solidFill>
              <a:srgbClr val="1464C8"/>
            </a:solidFill>
            <a:ln>
              <a:solidFill>
                <a:srgbClr val="1464C8"/>
              </a:solidFill>
            </a:ln>
          </c:spPr>
          <c:cat>
            <c:strRef>
              <c:f>Sheet1!$A$2:$A$4</c:f>
              <c:strCache>
                <c:ptCount val="3"/>
                <c:pt idx="0">
                  <c:v>يناير</c:v>
                </c:pt>
                <c:pt idx="1">
                  <c:v>فبراير</c:v>
                </c:pt>
                <c:pt idx="2">
                  <c:v>مارس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</c:v>
                </c:pt>
                <c:pt idx="1">
                  <c:v>-6</c:v>
                </c:pt>
                <c:pt idx="2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التكلفة</c:v>
                </c:pt>
              </c:strCache>
            </c:strRef>
          </c:tx>
          <c:spPr>
            <a:solidFill>
              <a:srgbClr val="DA492A"/>
            </a:solidFill>
            <a:ln>
              <a:solidFill>
                <a:srgbClr val="DA492A"/>
              </a:solidFill>
            </a:ln>
          </c:spPr>
          <c:cat>
            <c:strRef>
              <c:f>Sheet1!$A$2:$A$4</c:f>
              <c:strCache>
                <c:ptCount val="3"/>
                <c:pt idx="0">
                  <c:v>يناير</c:v>
                </c:pt>
                <c:pt idx="1">
                  <c:v>فبراير</c:v>
                </c:pt>
                <c:pt idx="2">
                  <c:v>مارس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</c:v>
                </c:pt>
                <c:pt idx="1">
                  <c:v>5</c:v>
                </c:pt>
                <c:pt idx="2">
                  <c:v>9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0.0"/>
          <c:min val="-1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  <c:majorUnit val="5.0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مقارنة المناطق</a:t>
            </a:r>
          </a:p>
        </c:rich>
      </c:tx>
      <c:layout/>
      <c:overlay val="0"/>
    </c:title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أ</c:v>
                </c:pt>
              </c:strCache>
            </c:strRef>
          </c:tx>
          <c:spPr>
            <a:solidFill>
              <a:srgbClr val="1464C8"/>
            </a:solidFill>
            <a:ln>
              <a:solidFill>
                <a:srgbClr val="1464C8"/>
              </a:solidFill>
            </a:ln>
          </c:spPr>
          <c:cat>
            <c:strRef>
              <c:f>Sheet1!$A$2:$A$4</c:f>
              <c:strCache>
                <c:ptCount val="3"/>
                <c:pt idx="0">
                  <c:v>شرق</c:v>
                </c:pt>
                <c:pt idx="1">
                  <c:v>غرب</c:v>
                </c:pt>
                <c:pt idx="2">
                  <c:v>وسط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</c:v>
                </c:pt>
                <c:pt idx="1">
                  <c:v>20</c:v>
                </c:pt>
                <c:pt idx="2">
                  <c:v>30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ب</c:v>
                </c:pt>
              </c:strCache>
            </c:strRef>
          </c:tx>
          <c:spPr>
            <a:solidFill>
              <a:srgbClr val="DA492A"/>
            </a:solidFill>
            <a:ln>
              <a:solidFill>
                <a:srgbClr val="DA492A"/>
              </a:solidFill>
            </a:ln>
          </c:spPr>
          <c:cat>
            <c:strRef>
              <c:f>Sheet1!$A$2:$A$4</c:f>
              <c:strCache>
                <c:ptCount val="3"/>
                <c:pt idx="0">
                  <c:v>شرق</c:v>
                </c:pt>
                <c:pt idx="1">
                  <c:v>غرب</c:v>
                </c:pt>
                <c:pt idx="2">
                  <c:v>وسط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</c:v>
                </c:pt>
                <c:pt idx="1">
                  <c:v>-8</c:v>
                </c:pt>
                <c:pt idx="2">
                  <c:v>9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النسب المحفوظة</a:t>
            </a:r>
          </a:p>
        </c:rich>
      </c:tx>
      <c:layout/>
      <c:overlay val="0"/>
    </c:title>
    <c:autoTitleDeleted val="0"/>
    <c:plotArea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أ</c:v>
                </c:pt>
              </c:strCache>
            </c:strRef>
          </c:tx>
          <c:spPr>
            <a:solidFill>
              <a:srgbClr val="1464C8"/>
            </a:solidFill>
            <a:ln>
              <a:solidFill>
                <a:srgbClr val="1464C8"/>
              </a:solidFill>
            </a:ln>
          </c:spPr>
          <c:cat>
            <c:strRef>
              <c:f>Sheet1!$A$2:$A$4</c:f>
              <c:strCache>
                <c:ptCount val="3"/>
                <c:pt idx="0">
                  <c:v>شرق</c:v>
                </c:pt>
                <c:pt idx="1">
                  <c:v>غرب</c:v>
                </c:pt>
                <c:pt idx="2">
                  <c:v>وسط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</c:v>
                </c:pt>
                <c:pt idx="1">
                  <c:v>15</c:v>
                </c:pt>
                <c:pt idx="2">
                  <c:v>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ب</c:v>
                </c:pt>
              </c:strCache>
            </c:strRef>
          </c:tx>
          <c:spPr>
            <a:solidFill>
              <a:srgbClr val="DA492A"/>
            </a:solidFill>
            <a:ln>
              <a:solidFill>
                <a:srgbClr val="DA492A"/>
              </a:solidFill>
            </a:ln>
          </c:spPr>
          <c:cat>
            <c:strRef>
              <c:f>Sheet1!$A$2:$A$4</c:f>
              <c:strCache>
                <c:ptCount val="3"/>
                <c:pt idx="0">
                  <c:v>شرق</c:v>
                </c:pt>
                <c:pt idx="1">
                  <c:v>غرب</c:v>
                </c:pt>
                <c:pt idx="2">
                  <c:v>وسط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30</c:v>
                </c:pt>
                <c:pt idx="1">
                  <c:v>15</c:v>
                </c:pt>
                <c:pt idx="2">
                  <c:v>20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Gridlines/>
        <c:numFmt formatCode="0%" sourceLinked="0"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تغيّر القيم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أ</c:v>
                </c:pt>
              </c:strCache>
            </c:strRef>
          </c:tx>
          <c:spPr>
            <a:solidFill>
              <a:srgbClr val="1464C8"/>
            </a:solidFill>
            <a:ln>
              <a:solidFill>
                <a:srgbClr val="1464C8"/>
              </a:solidFill>
            </a:ln>
          </c:spPr>
          <c:cat>
            <c:strRef>
              <c:f>Sheet1!$A$2:$A$5</c:f>
              <c:strCache>
                <c:ptCount val="4"/>
                <c:pt idx="0">
                  <c:v>يناير</c:v>
                </c:pt>
                <c:pt idx="1">
                  <c:v>فبراير</c:v>
                </c:pt>
                <c:pt idx="2">
                  <c:v>مارس</c:v>
                </c:pt>
                <c:pt idx="3">
                  <c:v>أبريل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2">
                  <c:v>12</c:v>
                </c:pt>
                <c:pt idx="3">
                  <c:v>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ب</c:v>
                </c:pt>
              </c:strCache>
            </c:strRef>
          </c:tx>
          <c:spPr>
            <a:solidFill>
              <a:srgbClr val="DA492A"/>
            </a:solidFill>
            <a:ln>
              <a:solidFill>
                <a:srgbClr val="DA492A"/>
              </a:solidFill>
            </a:ln>
          </c:spPr>
          <c:cat>
            <c:strRef>
              <c:f>Sheet1!$A$2:$A$5</c:f>
              <c:strCache>
                <c:ptCount val="4"/>
                <c:pt idx="0">
                  <c:v>يناير</c:v>
                </c:pt>
                <c:pt idx="1">
                  <c:v>فبراير</c:v>
                </c:pt>
                <c:pt idx="2">
                  <c:v>مارس</c:v>
                </c:pt>
                <c:pt idx="3">
                  <c:v>أبريل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</c:v>
                </c:pt>
                <c:pt idx="1">
                  <c:v>8</c:v>
                </c:pt>
                <c:pt idx="3">
                  <c:v>11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t>مساحة البيانات</a:t>
            </a:r>
          </a:p>
        </c:rich>
      </c:tx>
      <c:layout/>
      <c:overlay val="0"/>
    </c:title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التجربة</c:v>
                </c:pt>
              </c:strCache>
            </c:strRef>
          </c:tx>
          <c:spPr>
            <a:solidFill>
              <a:srgbClr val="1464C8"/>
            </a:solidFill>
            <a:ln>
              <a:solidFill>
                <a:srgbClr val="1464C8"/>
              </a:solidFill>
            </a:ln>
          </c:spPr>
          <c:cat>
            <c:strRef>
              <c:f>Sheet1!$A$2:$A$4</c:f>
              <c:strCache>
                <c:ptCount val="3"/>
                <c:pt idx="0">
                  <c:v>واحد</c:v>
                </c:pt>
                <c:pt idx="1">
                  <c:v>اثنان</c:v>
                </c:pt>
                <c:pt idx="2">
                  <c:v>ثلاثة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</c:v>
                </c:pt>
                <c:pt idx="1">
                  <c:v>9</c:v>
                </c:pt>
                <c:pt idx="2">
                  <c:v>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01159928"/>
        <c:crosses val="autoZero"/>
        <c:crossBetween val="midCat"/>
      </c:valAx>
    </c:plotArea>
    <c:legend>
      <c:legendPos val="b"/>
      <c:layout/>
      <c:overlay val="0"/>
    </c:legend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t>توزيع الأقسام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الحصة</c:v>
                </c:pt>
              </c:strCache>
            </c:strRef>
          </c:tx>
          <c:spPr>
            <a:solidFill>
              <a:srgbClr val="1464C8"/>
            </a:solidFill>
            <a:ln>
              <a:solidFill>
                <a:srgbClr val="1464C8"/>
              </a:solidFill>
            </a:ln>
          </c:spPr>
          <c:dPt>
            <c:idx val="0"/>
            <c:spPr>
              <a:solidFill>
                <a:srgbClr val="1464C8"/>
              </a:solidFill>
            </c:spPr>
          </c:dPt>
          <c:dPt>
            <c:idx val="1"/>
            <c:spPr>
              <a:solidFill>
                <a:srgbClr val="DA492A"/>
              </a:solidFill>
            </c:spPr>
          </c:dPt>
          <c:dPt>
            <c:idx val="2"/>
            <c:spPr>
              <a:solidFill>
                <a:srgbClr val="469C35"/>
              </a:solidFill>
            </c:spPr>
          </c:dPt>
          <c:cat>
            <c:strRef>
              <c:f>Sheet1!$A$2:$A$4</c:f>
              <c:strCache>
                <c:ptCount val="3"/>
                <c:pt idx="0">
                  <c:v>قسم أ</c:v>
                </c:pt>
                <c:pt idx="1">
                  <c:v>قسم ب</c:v>
                </c:pt>
                <c:pt idx="2">
                  <c:v>قسم ج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</c:v>
                </c:pt>
                <c:pt idx="1">
                  <c:v>20</c:v>
                </c:pt>
                <c:pt idx="2">
                  <c:v>30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1"/>
          <c:showBubbleSize val="0"/>
          <c:showLeaderLines val="1"/>
        </c:dLbls>
      </c:pieChart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t>حلقة القيم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الدونات</c:v>
                </c:pt>
              </c:strCache>
            </c:strRef>
          </c:tx>
          <c:spPr>
            <a:solidFill>
              <a:srgbClr val="1464C8"/>
            </a:solidFill>
            <a:ln>
              <a:solidFill>
                <a:srgbClr val="1464C8"/>
              </a:solidFill>
            </a:ln>
          </c:spPr>
          <c:cat>
            <c:strRef>
              <c:f>Sheet1!$A$2:$A$4</c:f>
              <c:strCache>
                <c:ptCount val="3"/>
                <c:pt idx="0">
                  <c:v>أ</c:v>
                </c:pt>
                <c:pt idx="1">
                  <c:v>ب</c:v>
                </c:pt>
                <c:pt idx="2">
                  <c:v>ج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</c:v>
                </c:pt>
                <c:pt idx="1">
                  <c:v>20</c:v>
                </c:pt>
                <c:pt idx="2">
                  <c:v>30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t>قياسات غير متساوية</a:t>
            </a:r>
          </a:p>
        </c:rich>
      </c:tx>
      <c:layout/>
      <c:overlay val="0"/>
    </c:title>
    <c:plotArea>
      <c:scatterChart>
        <c:scatte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القياسات</c:v>
                </c:pt>
              </c:strCache>
            </c:strRef>
          </c:tx>
          <c:spPr>
            <a:solidFill>
              <a:srgbClr val="1464C8"/>
            </a:solidFill>
            <a:ln w="47625">
              <a:noFill/>
            </a:ln>
          </c:spPr>
          <c:xVal>
            <c:numRef>
              <c:f>Sheet1!$A$2:$A$4</c:f>
              <c:numCache>
                <c:formatCode>General</c:formatCode>
                <c:ptCount val="3"/>
                <c:pt idx="0">
                  <c:v>1</c:v>
                </c:pt>
                <c:pt idx="1">
                  <c:v>2</c:v>
                </c:pt>
                <c:pt idx="2">
                  <c:v>10</c:v>
                </c:pt>
              </c:numCache>
            </c:numRef>
          </c:xVal>
          <c:yVal>
            <c:numRef>
              <c:f>Sheet1!$B$2:$B$4</c:f>
              <c:numCache>
                <c:formatCode>General</c:formatCode>
                <c:ptCount val="3"/>
                <c:pt idx="0">
                  <c:v>2</c:v>
                </c:pt>
                <c:pt idx="1">
                  <c:v>4</c:v>
                </c:pt>
                <c:pt idx="2">
                  <c:v>3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10.0"/>
          <c:min val="0.0"/>
        </c:scaling>
        <c:delete val="0"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title>
      <c:tx>
        <c:rich>
          <a:bodyPr/>
          <a:lstStyle/>
          <a:p>
            <a:r>
              <a:t>نوع غير مدعوم</a:t>
            </a:r>
          </a:p>
        </c:rich>
      </c:tx>
      <c:layout/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القيم</c:v>
                </c:pt>
              </c:strCache>
            </c:strRef>
          </c:tx>
          <c:spPr>
            <a:solidFill>
              <a:srgbClr val="1464C8"/>
            </a:solidFill>
            <a:ln>
              <a:solidFill>
                <a:srgbClr val="1464C8"/>
              </a:solidFill>
            </a:ln>
          </c:spPr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أ</c:v>
                </c:pt>
                <c:pt idx="1">
                  <c:v>ب</c:v>
                </c:pt>
                <c:pt idx="2">
                  <c:v>ج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</c:v>
                </c:pt>
                <c:pt idx="1">
                  <c:v>4</c:v>
                </c:pt>
                <c:pt idx="2">
                  <c:v>3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crossAx val="2073612648"/>
        <c:crosses val="autoZero"/>
        <c:crossBetween val="between"/>
      </c:valAx>
    </c:plotArea>
    <c:legend>
      <c:legendPos val="b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457200" y="274320"/>
          <a:ext cx="822960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457200" y="274320"/>
          <a:ext cx="822960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457200" y="274320"/>
          <a:ext cx="822960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457200" y="274320"/>
          <a:ext cx="822960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457200" y="274320"/>
          <a:ext cx="822960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457200" y="274320"/>
          <a:ext cx="822960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457200" y="274320"/>
          <a:ext cx="822960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457200" y="274320"/>
          <a:ext cx="822960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457200" y="274320"/>
          <a:ext cx="822960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